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8786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We Pay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Data Scientist?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365760" y="2708908"/>
            <a:ext cx="2651760" cy="1554480"/>
          </a:xfrm>
          <a:prstGeom prst="rect">
            <a:avLst/>
          </a:prstGeom>
          <a:solidFill>
            <a:srgbClr val="FFFFFF">
              <a:alpha val="90000"/>
            </a:srgbClr>
          </a:solidFill>
          <a:ln w="254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2754628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$147K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334898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Senior DS</a:t>
            </a:r>
            <a:endParaRPr lang="en-US" sz="1100" dirty="0">
              <a:solidFill>
                <a:schemeClr val="accent3"/>
              </a:solidFill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Salary</a:t>
            </a:r>
            <a:endParaRPr lang="en-US" sz="1100" dirty="0">
              <a:solidFill>
                <a:schemeClr val="accent3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365760" y="382447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Full-time, 2020–2022  (n=216)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46120" y="2708908"/>
            <a:ext cx="2651760" cy="1554480"/>
          </a:xfrm>
          <a:prstGeom prst="rect">
            <a:avLst/>
          </a:prstGeom>
          <a:solidFill>
            <a:srgbClr val="FFFFFF">
              <a:alpha val="90000"/>
            </a:srgbClr>
          </a:solidFill>
          <a:ln w="254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46120" y="2754628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$88K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246120" y="334898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Offshore Senior DS</a:t>
            </a:r>
            <a:endParaRPr lang="en-US" sz="1100" dirty="0">
              <a:solidFill>
                <a:schemeClr val="accent3"/>
              </a:solidFill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Salary</a:t>
            </a:r>
            <a:endParaRPr lang="en-US" sz="1100" dirty="0">
              <a:solidFill>
                <a:schemeClr val="accent3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3246120" y="382447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Full-time, 2020–2022  (n=62)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26480" y="2708908"/>
            <a:ext cx="2651760" cy="1554480"/>
          </a:xfrm>
          <a:prstGeom prst="rect">
            <a:avLst/>
          </a:prstGeom>
          <a:solidFill>
            <a:srgbClr val="FFFFFF">
              <a:alpha val="90000"/>
            </a:srgbClr>
          </a:solidFill>
          <a:ln w="254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26480" y="2754628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~2.1×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126480" y="334898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Salary</a:t>
            </a:r>
            <a:endParaRPr lang="en-US" sz="1100" dirty="0">
              <a:solidFill>
                <a:schemeClr val="accent3"/>
              </a:solidFill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100" dirty="0">
              <a:solidFill>
                <a:schemeClr val="accent3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6126480" y="382447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offshore equivalent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CONTEXT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Hot Market Getting Hotter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talent is scarce, demand is high, and the data prove it. U.S.-based senior data scientists now command more than 2× the salary of comparable offshore talent; a gap that has been widening every year. Waiting to hire means paying more later.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3931920" cy="1463040"/>
          </a:xfrm>
          <a:prstGeom prst="rect">
            <a:avLst/>
          </a:prstGeom>
          <a:solidFill>
            <a:srgbClr val="F0F7FF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260604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median salary grew from $114K in 2020 to $140K in 2022; a 23% jump in just two years. Offshore remained flat at ~$56K–$66K. The gap is real and widening.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627017"/>
            <a:ext cx="4434840" cy="395804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286000" cy="320040"/>
          </a:xfrm>
          <a:prstGeom prst="roundRect">
            <a:avLst>
              <a:gd name="adj" fmla="val 14286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COMPARISON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U.S. Premium Grows with Experience</a:t>
            </a: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0"/>
            <a:ext cx="5303520" cy="3566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06440" y="1188720"/>
            <a:ext cx="3017520" cy="1051560"/>
          </a:xfrm>
          <a:prstGeom prst="rect">
            <a:avLst/>
          </a:prstGeom>
          <a:solidFill>
            <a:srgbClr val="F0F7FF"/>
          </a:solidFill>
          <a:ln w="1905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943600" y="12618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U.S. Senior 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43600" y="1536192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$116K – $180K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(25th–75th percentile)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806440" y="2423160"/>
            <a:ext cx="3017520" cy="1051560"/>
          </a:xfrm>
          <a:prstGeom prst="rect">
            <a:avLst/>
          </a:prstGeom>
          <a:solidFill>
            <a:srgbClr val="E8FBF5"/>
          </a:solidFill>
          <a:ln w="1905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943600" y="24963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Offshore Senior DS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943600" y="2770632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$62K – $114K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(25th–75th percentile)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806440" y="3657600"/>
            <a:ext cx="3017520" cy="1051560"/>
          </a:xfrm>
          <a:prstGeom prst="rect">
            <a:avLst/>
          </a:prstGeom>
          <a:solidFill>
            <a:srgbClr val="FFF9EC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943600" y="37307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Executive Track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943600" y="4005072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median: $216K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Offshore median: $124K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Recommendation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attract a senior data scientist with team-lead potential, we recommend the following salary ranges: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77640" cy="2788920"/>
          </a:xfrm>
          <a:prstGeom prst="rect">
            <a:avLst/>
          </a:prstGeom>
          <a:solidFill>
            <a:srgbClr val="FFFFFF"/>
          </a:solidFill>
          <a:ln w="381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536192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U.S.-Based Hire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92024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$140,000 – $180,000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94360" y="2468880"/>
            <a:ext cx="3657600" cy="0"/>
          </a:xfrm>
          <a:prstGeom prst="line">
            <a:avLst/>
          </a:prstGeom>
          <a:noFill/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2542032"/>
            <a:ext cx="37033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 squarely at the 50th–75th percentile for a U.S. senior data scientist — competitive enough to attract top talent. For a Principal or Manager-track hire, budget up to $215K.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417320"/>
            <a:ext cx="3977640" cy="2788920"/>
          </a:xfrm>
          <a:prstGeom prst="rect">
            <a:avLst/>
          </a:prstGeom>
          <a:solidFill>
            <a:srgbClr val="FFFFFF"/>
          </a:solidFill>
          <a:ln w="381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0" y="1536192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Offshore Hire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92024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$75,000 – $100,000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937760" y="2468880"/>
            <a:ext cx="36576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37760" y="2542032"/>
            <a:ext cx="37033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senior-level talent in the UK, Canada, Germany, and Australia. ~40% cost savings vs. U.S., with access to comparable technical depth and growing leadership pools.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Now: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median DS salaries rose 23% in just two years. Every quarter of delay means a higher cost-of-hire.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Ahead: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range at $140–180K for U.S. to retain the hire as they grow into a team lead role.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389</Words>
  <Application>Microsoft Office PowerPoint</Application>
  <PresentationFormat>On-screen Show (16:9)</PresentationFormat>
  <Paragraphs>44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Salary Analysis</dc:title>
  <dc:subject>PptxGenJS Presentation</dc:subject>
  <dc:creator>Analytics Team</dc:creator>
  <cp:lastModifiedBy>Malcolm B</cp:lastModifiedBy>
  <cp:revision>2</cp:revision>
  <dcterms:created xsi:type="dcterms:W3CDTF">2026-04-20T03:01:33Z</dcterms:created>
  <dcterms:modified xsi:type="dcterms:W3CDTF">2026-04-20T03:26:25Z</dcterms:modified>
</cp:coreProperties>
</file>